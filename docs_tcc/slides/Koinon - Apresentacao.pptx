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B8A6">
              <a:alpha val="14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deco2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</a:rPr>
              <a:t>TRABALHO DE CONCLUSÃO DE CURSO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Koinon Services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463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CE8F7"/>
                </a:solidFill>
              </a:rPr>
              <a:t>Sistema de Gestão de Condomínios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4D6"/>
                </a:solidFill>
              </a:rPr>
              <a:t>Portaria • Moradores • Reservas • Financeiro • Comunicação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4D6"/>
                </a:solidFill>
              </a:rPr>
              <a:t>Escola Técnica de Ceilândia – ETC  |  Curso Técnico em Informática  |  2026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B8A6">
              <a:alpha val="14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deco2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Nossa equipe</a:t>
            </a:r>
            <a:endParaRPr lang="en-US" sz="3800" dirty="0"/>
          </a:p>
        </p:txBody>
      </p:sp>
      <p:sp>
        <p:nvSpPr>
          <p:cNvPr id="5" name="anel JP"/>
          <p:cNvSpPr/>
          <p:nvPr/>
        </p:nvSpPr>
        <p:spPr>
          <a:xfrm>
            <a:off x="1261872" y="1627632"/>
            <a:ext cx="2505456" cy="2505456"/>
          </a:xfrm>
          <a:prstGeom prst="ellipse">
            <a:avLst/>
          </a:prstGeom>
          <a:solidFill>
            <a:srgbClr val="14B8A6">
              <a:alpha val="45000"/>
            </a:srgbClr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6" name="foto João Pedro Gomes Correa"/>
          <p:cNvSpPr/>
          <p:nvPr/>
        </p:nvSpPr>
        <p:spPr>
          <a:xfrm>
            <a:off x="1371600" y="1737360"/>
            <a:ext cx="2286000" cy="2286000"/>
          </a:xfrm>
          <a:prstGeom prst="ellipse">
            <a:avLst/>
          </a:prstGeom>
          <a:solidFill>
            <a:srgbClr val="183A6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371600" y="17373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DB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JP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João Pedro Gomes Correa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4D6"/>
                </a:solidFill>
              </a:rPr>
              <a:t>Desenvolvedor • TCC Koinon</a:t>
            </a:r>
            <a:endParaRPr lang="en-US" sz="1300" dirty="0"/>
          </a:p>
        </p:txBody>
      </p:sp>
      <p:sp>
        <p:nvSpPr>
          <p:cNvPr id="10" name="anel MP"/>
          <p:cNvSpPr/>
          <p:nvPr/>
        </p:nvSpPr>
        <p:spPr>
          <a:xfrm>
            <a:off x="4828032" y="1627632"/>
            <a:ext cx="2505456" cy="2505456"/>
          </a:xfrm>
          <a:prstGeom prst="ellipse">
            <a:avLst/>
          </a:prstGeom>
          <a:solidFill>
            <a:srgbClr val="14B8A6">
              <a:alpha val="45000"/>
            </a:srgbClr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11" name="foto Matheus Souza Parreiras"/>
          <p:cNvSpPr/>
          <p:nvPr/>
        </p:nvSpPr>
        <p:spPr>
          <a:xfrm>
            <a:off x="4937760" y="1737360"/>
            <a:ext cx="2286000" cy="2286000"/>
          </a:xfrm>
          <a:prstGeom prst="ellipse">
            <a:avLst/>
          </a:prstGeom>
          <a:solidFill>
            <a:srgbClr val="183A6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937760" y="17373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DB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Matheus Souza Parreiras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4D6"/>
                </a:solidFill>
              </a:rPr>
              <a:t>Desenvolvedor • TCC Koinon</a:t>
            </a:r>
            <a:endParaRPr lang="en-US" sz="1300" dirty="0"/>
          </a:p>
        </p:txBody>
      </p:sp>
      <p:sp>
        <p:nvSpPr>
          <p:cNvPr id="15" name="anel SP"/>
          <p:cNvSpPr/>
          <p:nvPr/>
        </p:nvSpPr>
        <p:spPr>
          <a:xfrm>
            <a:off x="8394192" y="1627632"/>
            <a:ext cx="2505456" cy="2505456"/>
          </a:xfrm>
          <a:prstGeom prst="ellipse">
            <a:avLst/>
          </a:prstGeom>
          <a:solidFill>
            <a:srgbClr val="14B8A6">
              <a:alpha val="45000"/>
            </a:srgbClr>
          </a:solidFill>
          <a:ln w="38100">
            <a:solidFill>
              <a:srgbClr val="14B8A6"/>
            </a:solidFill>
            <a:prstDash val="solid"/>
          </a:ln>
        </p:spPr>
      </p:sp>
      <p:sp>
        <p:nvSpPr>
          <p:cNvPr id="16" name="foto Samuel dos Santos Prado"/>
          <p:cNvSpPr/>
          <p:nvPr/>
        </p:nvSpPr>
        <p:spPr>
          <a:xfrm>
            <a:off x="8503920" y="1737360"/>
            <a:ext cx="2286000" cy="2286000"/>
          </a:xfrm>
          <a:prstGeom prst="ellipse">
            <a:avLst/>
          </a:prstGeom>
          <a:solidFill>
            <a:srgbClr val="183A6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03920" y="17373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DB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Samuel dos Santos Prado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4D6"/>
                </a:solidFill>
              </a:rPr>
              <a:t>Desenvolvedor • TCC Koinon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8F7"/>
                </a:solidFill>
              </a:rPr>
              <a:t>Curso Técnico em Informática  •  Turma Noturno 2026  •  Escola Técnica de Ceilândia – ETC  •  Orientador: Prof. Esp. Cleyton Ferreira da Silva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deco"/>
          <p:cNvSpPr/>
          <p:nvPr/>
        </p:nvSpPr>
        <p:spPr>
          <a:xfrm>
            <a:off x="10332720" y="-1463040"/>
            <a:ext cx="3291840" cy="329184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INTRODUÇÃO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este tema?</a:t>
            </a:r>
            <a:endParaRPr lang="en-US" sz="3200" dirty="0"/>
          </a:p>
        </p:txBody>
      </p:sp>
      <p:sp>
        <p:nvSpPr>
          <p:cNvPr id="6" name="card0"/>
          <p:cNvSpPr/>
          <p:nvPr/>
        </p:nvSpPr>
        <p:spPr>
          <a:xfrm>
            <a:off x="731520" y="182880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148840"/>
            <a:ext cx="640080" cy="822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origem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9260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Um dos integrantes trabalhou no setor de sistemas para condomínios e trouxe a ideia para o grupo.</a:t>
            </a:r>
            <a:endParaRPr lang="en-US" sz="1600" dirty="0"/>
          </a:p>
        </p:txBody>
      </p:sp>
      <p:sp>
        <p:nvSpPr>
          <p:cNvPr id="10" name="card1"/>
          <p:cNvSpPr/>
          <p:nvPr/>
        </p:nvSpPr>
        <p:spPr>
          <a:xfrm>
            <a:off x="4389120" y="182880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48840"/>
            <a:ext cx="64008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decisão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9260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O grupo avaliou o tema, aprovou por unanimidade e viu ali um problema real e relevante.</a:t>
            </a:r>
            <a:endParaRPr lang="en-US" sz="1600" dirty="0"/>
          </a:p>
        </p:txBody>
      </p:sp>
      <p:sp>
        <p:nvSpPr>
          <p:cNvPr id="14" name="card2"/>
          <p:cNvSpPr/>
          <p:nvPr/>
        </p:nvSpPr>
        <p:spPr>
          <a:xfrm>
            <a:off x="8046720" y="182880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48840"/>
            <a:ext cx="640080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Desenvolvimento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260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O Koinon foi construído com base nos sistemas condominiais observados no dia a dia desse trabalho.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83A6E"/>
                </a:solidFill>
              </a:rPr>
              <a:t>Problema: informações dispersas entre portaria, financeiro, reservas e comunicação. Solução: uma plataforma web integrada, simples e segura.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B8A6">
              <a:alpha val="14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deco2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κοινωνία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significa “Koinon”?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8F7"/>
                </a:solidFill>
              </a:rPr>
              <a:t>Do grego koinón / koinonía: comunidade, comunhão, partilha.</a:t>
            </a:r>
            <a:endParaRPr lang="en-US" sz="2000" dirty="0"/>
          </a:p>
        </p:txBody>
      </p:sp>
      <p:sp>
        <p:nvSpPr>
          <p:cNvPr id="7" name="sig0"/>
          <p:cNvSpPr/>
          <p:nvPr/>
        </p:nvSpPr>
        <p:spPr>
          <a:xfrm>
            <a:off x="822960" y="306324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Comunidade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7"/>
                </a:solidFill>
              </a:rPr>
              <a:t>Pessoas que vivem juntas sob o mesmo teto</a:t>
            </a:r>
            <a:endParaRPr lang="en-US" sz="1600" dirty="0"/>
          </a:p>
        </p:txBody>
      </p:sp>
      <p:sp>
        <p:nvSpPr>
          <p:cNvPr id="10" name="sig1"/>
          <p:cNvSpPr/>
          <p:nvPr/>
        </p:nvSpPr>
        <p:spPr>
          <a:xfrm>
            <a:off x="6217920" y="306324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Partilha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7"/>
                </a:solidFill>
              </a:rPr>
              <a:t>Espaços, avisos e informações de uso comum</a:t>
            </a:r>
            <a:endParaRPr lang="en-US" sz="1600" dirty="0"/>
          </a:p>
        </p:txBody>
      </p:sp>
      <p:sp>
        <p:nvSpPr>
          <p:cNvPr id="13" name="sig2"/>
          <p:cNvSpPr/>
          <p:nvPr/>
        </p:nvSpPr>
        <p:spPr>
          <a:xfrm>
            <a:off x="822960" y="452628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Participação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7"/>
                </a:solidFill>
              </a:rPr>
              <a:t>Cada morador, porteiro e síndico com seu papel</a:t>
            </a:r>
            <a:endParaRPr lang="en-US" sz="1600" dirty="0"/>
          </a:p>
        </p:txBody>
      </p:sp>
      <p:sp>
        <p:nvSpPr>
          <p:cNvPr id="16" name="sig3"/>
          <p:cNvSpPr/>
          <p:nvPr/>
        </p:nvSpPr>
        <p:spPr>
          <a:xfrm>
            <a:off x="6217920" y="452628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Confiança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7"/>
                </a:solidFill>
              </a:rPr>
              <a:t>Transparência e registro de tudo que acontece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deco"/>
          <p:cNvSpPr/>
          <p:nvPr/>
        </p:nvSpPr>
        <p:spPr>
          <a:xfrm>
            <a:off x="10332720" y="-1463040"/>
            <a:ext cx="3291840" cy="329184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sistema entrega</a:t>
            </a:r>
            <a:endParaRPr lang="en-US" sz="3200" dirty="0"/>
          </a:p>
        </p:txBody>
      </p:sp>
      <p:sp>
        <p:nvSpPr>
          <p:cNvPr id="6" name="mod0"/>
          <p:cNvSpPr/>
          <p:nvPr/>
        </p:nvSpPr>
        <p:spPr>
          <a:xfrm>
            <a:off x="731520" y="182880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1031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Acesso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</a:rPr>
              <a:t>Login por CPF, perfis e LGPD</a:t>
            </a:r>
            <a:endParaRPr lang="en-US" sz="1500" dirty="0"/>
          </a:p>
        </p:txBody>
      </p:sp>
      <p:sp>
        <p:nvSpPr>
          <p:cNvPr id="11" name="mod1"/>
          <p:cNvSpPr/>
          <p:nvPr/>
        </p:nvSpPr>
        <p:spPr>
          <a:xfrm>
            <a:off x="4389120" y="182880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031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Portaria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</a:rPr>
              <a:t>Visitantes, QR Code e registro</a:t>
            </a:r>
            <a:endParaRPr lang="en-US" sz="1500" dirty="0"/>
          </a:p>
        </p:txBody>
      </p:sp>
      <p:sp>
        <p:nvSpPr>
          <p:cNvPr id="16" name="mod2"/>
          <p:cNvSpPr/>
          <p:nvPr/>
        </p:nvSpPr>
        <p:spPr>
          <a:xfrm>
            <a:off x="8046720" y="182880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</a:rPr>
              <a:t>Espaços, pagamento e lista de presença</a:t>
            </a:r>
            <a:endParaRPr lang="en-US" sz="1500" dirty="0"/>
          </a:p>
        </p:txBody>
      </p:sp>
      <p:sp>
        <p:nvSpPr>
          <p:cNvPr id="21" name="mod3"/>
          <p:cNvSpPr/>
          <p:nvPr/>
        </p:nvSpPr>
        <p:spPr>
          <a:xfrm>
            <a:off x="731520" y="38404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Financeiro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754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</a:rPr>
              <a:t>Cobranças com boleto, Pix e cartão</a:t>
            </a:r>
            <a:endParaRPr lang="en-US" sz="1500" dirty="0"/>
          </a:p>
        </p:txBody>
      </p:sp>
      <p:sp>
        <p:nvSpPr>
          <p:cNvPr id="26" name="mod4"/>
          <p:cNvSpPr/>
          <p:nvPr/>
        </p:nvSpPr>
        <p:spPr>
          <a:xfrm>
            <a:off x="4389120" y="38404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41148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Convivência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4754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</a:rPr>
              <a:t>Ocorrências e publicações</a:t>
            </a:r>
            <a:endParaRPr lang="en-US" sz="1500" dirty="0"/>
          </a:p>
        </p:txBody>
      </p:sp>
      <p:sp>
        <p:nvSpPr>
          <p:cNvPr id="31" name="mod5"/>
          <p:cNvSpPr/>
          <p:nvPr/>
        </p:nvSpPr>
        <p:spPr>
          <a:xfrm>
            <a:off x="8046720" y="384048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41148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Gestão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754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8"/>
                </a:solidFill>
              </a:rPr>
              <a:t>Unidades, veículos e relatórios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3A6E"/>
                </a:solidFill>
              </a:rPr>
              <a:t>PHP • MySQL/MariaDB • Bootstrap 5 • arquitetura em camadas (View, Controller, DTO, DAO)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deco"/>
          <p:cNvSpPr/>
          <p:nvPr/>
        </p:nvSpPr>
        <p:spPr>
          <a:xfrm>
            <a:off x="10332720" y="-1463040"/>
            <a:ext cx="3291840" cy="329184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MODELAGEM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de caso de uso geral</a:t>
            </a:r>
            <a:endParaRPr lang="en-US" sz="3200" dirty="0"/>
          </a:p>
        </p:txBody>
      </p:sp>
      <p:pic>
        <p:nvPicPr>
          <p:cNvPr id="6" name="Caso de uso geral" descr="Diagrama de caso de uso geral do Koin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66344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60020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263640" y="182880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ler o diagrama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88"/>
                </a:solidFill>
              </a:rPr>
              <a:t>Atores do menor para o maior perfil, com herança entre eles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88"/>
                </a:solidFill>
              </a:rPr>
              <a:t>Quem está acima herda tudo o que os perfis abaixo fazem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88"/>
                </a:solidFill>
              </a:rPr>
              <a:t>Casos de uso em “Manter …”: cadastrar, pesquisar, alterar e excluir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88"/>
                </a:solidFill>
              </a:rPr>
              <a:t>Administrador: visão global, permissões e usuários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88"/>
                </a:solidFill>
              </a:rPr>
              <a:t>Síndico: gestão do condomínio e relatórios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deco"/>
          <p:cNvSpPr/>
          <p:nvPr/>
        </p:nvSpPr>
        <p:spPr>
          <a:xfrm>
            <a:off x="10332720" y="-1463040"/>
            <a:ext cx="3291840" cy="329184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</a:rPr>
              <a:t>BANCO DE DADOS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entidade-relacionamento</a:t>
            </a:r>
            <a:endParaRPr lang="en-US" sz="3200" dirty="0"/>
          </a:p>
        </p:txBody>
      </p:sp>
      <p:pic>
        <p:nvPicPr>
          <p:cNvPr id="6" name="MER" descr="MER do Koinon com 17 tabel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12064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6002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629400" y="182880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A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tabelas relacionais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88"/>
                </a:solidFill>
              </a:rPr>
              <a:t>Chaves estrangeiras garantem a integridade dos dados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88"/>
                </a:solidFill>
              </a:rPr>
              <a:t>usuario, unidade e reserva ligam moradores aos espaços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88"/>
                </a:solidFill>
              </a:rPr>
              <a:t>cobranca e comprovante sustentam o financeiro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88"/>
                </a:solidFill>
              </a:rPr>
              <a:t>visitante, autorizacao_acesso e registro_acesso controlam a portaria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B88"/>
                </a:solidFill>
              </a:rPr>
              <a:t>Modelado no MySQL Workbench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B8A6">
              <a:alpha val="14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deco2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4000" dirty="0"/>
          </a:p>
        </p:txBody>
      </p:sp>
      <p:sp>
        <p:nvSpPr>
          <p:cNvPr id="5" name="k0"/>
          <p:cNvSpPr/>
          <p:nvPr/>
        </p:nvSpPr>
        <p:spPr>
          <a:xfrm>
            <a:off x="822960" y="182880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Centralizado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743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8F7"/>
                </a:solidFill>
              </a:rPr>
              <a:t>Rotinas administrativas e operacionais em uma só plataforma</a:t>
            </a:r>
            <a:endParaRPr lang="en-US" sz="1700" dirty="0"/>
          </a:p>
        </p:txBody>
      </p:sp>
      <p:sp>
        <p:nvSpPr>
          <p:cNvPr id="8" name="k1"/>
          <p:cNvSpPr/>
          <p:nvPr/>
        </p:nvSpPr>
        <p:spPr>
          <a:xfrm>
            <a:off x="4480560" y="182880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Seguro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743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8F7"/>
                </a:solidFill>
              </a:rPr>
              <a:t>Hash de senha, perfis de acesso, CSRF e LGPD</a:t>
            </a:r>
            <a:endParaRPr lang="en-US" sz="1700" dirty="0"/>
          </a:p>
        </p:txBody>
      </p:sp>
      <p:sp>
        <p:nvSpPr>
          <p:cNvPr id="11" name="k2"/>
          <p:cNvSpPr/>
          <p:nvPr/>
        </p:nvSpPr>
        <p:spPr>
          <a:xfrm>
            <a:off x="8138160" y="182880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Evolutivo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743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8F7"/>
                </a:solidFill>
              </a:rPr>
              <a:t>Arquitetura em camadas pronta para crescer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A hipótese se confirmou: integrar processos reduz retrabalho, melhora a transparência e a segurança da informação no condomínio.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  Perguntas?</a:t>
            </a:r>
            <a:endParaRPr lang="en-US" sz="26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Koinon">
  <a:themeElements>
    <a:clrScheme name="Koinon">
      <a:dk1>
        <a:srgbClr val="0A1630"/>
      </a:dk1>
      <a:lt1>
        <a:srgbClr val="FFFFFF"/>
      </a:lt1>
      <a:dk2>
        <a:srgbClr val="183A6E"/>
      </a:dk2>
      <a:lt2>
        <a:srgbClr val="F3F6FB"/>
      </a:lt2>
      <a:accent1>
        <a:srgbClr val="14B8A6"/>
      </a:accent1>
      <a:accent2>
        <a:srgbClr val="F59E0B"/>
      </a:accent2>
      <a:accent3>
        <a:srgbClr val="6366F1"/>
      </a:accent3>
      <a:accent4>
        <a:srgbClr val="38BDF8"/>
      </a:accent4>
      <a:accent5>
        <a:srgbClr val="EF4444"/>
      </a:accent5>
      <a:accent6>
        <a:srgbClr val="22C55E"/>
      </a:accent6>
      <a:hlink>
        <a:srgbClr val="38BDF8"/>
      </a:hlink>
      <a:folHlink>
        <a:srgbClr val="6366F1"/>
      </a:folHlink>
    </a:clrScheme>
    <a:fontScheme name="Koino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Koinon Services – Apresentação do TCC</dc:title>
  <dc:subject>PptxGenJS Presentation</dc:subject>
  <dc:creator>João Pedro, Matheus e Samuel</dc:creator>
  <cp:lastModifiedBy>João Pedro, Matheus e Samuel</cp:lastModifiedBy>
  <cp:revision>1</cp:revision>
  <dcterms:created xsi:type="dcterms:W3CDTF">2026-10-27T20:50:38Z</dcterms:created>
  <dcterms:modified xsi:type="dcterms:W3CDTF">2026-10-27T20:50:38Z</dcterms:modified>
</cp:coreProperties>
</file>